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rõ ai làm phần nào.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De Cock và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Phân loại biến.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Đơn biến SalePrice.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hợp đơn biến.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Tương quan.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VIF và hetero.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Biến phân loại và biến mới.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Thiếu và bẫy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Kiểm tra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điểm.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Cook và before/after.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" name="Image 0" descr="/tmp/rl3/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868680" cy="886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TRƯỜNG ĐẠI HỌC SÀI GÒN - KHOA CÔNG NGHỆ THÔNG TIN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Môn Máy học  |  GVHD: TS. Đỗ Như Tài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LAB03: PHÂN TÍCH KHÁM PHÁ DỮ LIỆU</a:t>
            </a:r>
            <a:endParaRPr lang="en-US" sz="3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A541"/>
                </a:solidFill>
                <a:latin typeface="Courier New" panose="02070309020205020404" charset="0"/>
                <a:ea typeface="Calibri" panose="020F0502020204030204" pitchFamily="34" charset="-122"/>
                <a:cs typeface="Courier New" panose="02070309020205020404" charset="0"/>
              </a:rPr>
              <a:t>Dự đoán giá nhà Ames, Iowa - Kaggle House Prices</a:t>
            </a:r>
            <a:endParaRPr lang="en-US" sz="17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905115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371600" lvl="3" indent="45720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Lưu Lương Mạnh Dũng (nhóm trưởng)  </a:t>
            </a:r>
            <a:r>
              <a:rPr lang="vi-VN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3124411053</a:t>
            </a:r>
            <a:endParaRPr lang="en-US" sz="1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371600" lvl="3" indent="45720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Thành Đại  </a:t>
            </a:r>
            <a:r>
              <a:rPr lang="vi-VN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vi-VN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3124411061</a:t>
            </a:r>
            <a:endParaRPr lang="en-US" sz="1300" dirty="0"/>
          </a:p>
          <a:p>
            <a:pPr marL="1371600" lvl="3" indent="45720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Nguyễn Xuân Hậu Thành  </a:t>
            </a:r>
            <a:r>
              <a:rPr lang="vi-VN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	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3124411278</a:t>
            </a:r>
            <a:endParaRPr lang="en-US" sz="1300" dirty="0"/>
          </a:p>
          <a:p>
            <a:pPr marL="1371600" lvl="3" indent="45720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Lê Đăng Tiến  </a:t>
            </a:r>
            <a:r>
              <a:rPr lang="vi-VN" alt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			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3124411311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82486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3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TP. Hồ Chí Minh, 03/10/2026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Phân công nhiệm vụ các thành viên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1920240"/>
                <a:gridCol w="73152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Thành viên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Nhiệm vụ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Notebook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Báo cáo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Lê Đăng Tiến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Khảo sát paper và Kaggle, phát biểu bài toán, tính chất dữ liệu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01_overview.ipynb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Mục 1, 2, 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Nguyễn Thành Đại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Phân tích đơn biến: SalePrice, biến liên tục, rời rạc, phân loại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02_univariate.ipynb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Mục 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Nguyễn Xuân Hậu Thành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Phân tích đa biến: tương quan, đa cộng tuyến, quan hệ với giá, biến phân loại, biến mới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03_multivariate.ipynb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Mục 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Lưu Lương Mạnh Dũng (nhóm trưởng)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Giá trị thiếu, mẫu bất thường, ngoại lệ; gộp notebook và test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04_missing_outlier.ipynb; 00_EDA_tong_hop.ipynb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Mục 5, 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19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Bài toán: hồi quy dự đoán giá nhà từ 79 đặc trưng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Đăng Tiế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143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1,460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16002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dòng train (81 cột)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188720"/>
            <a:ext cx="54864" cy="7315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51760" y="1143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1,459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651760" y="16002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dòng test (80 cột)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188720"/>
            <a:ext cx="54864" cy="7315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1143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79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09160" y="1600200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đặc trưng giải thích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29400" y="10972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1188720"/>
            <a:ext cx="54864" cy="73152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1143000"/>
            <a:ext cx="1874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1495B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SalePrice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66560" y="160020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biến mục tiêu (USD)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19456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Paper De Cock (2011)</a:t>
            </a:r>
            <a:endParaRPr lang="en-US" sz="13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0080" y="2606040"/>
            <a:ext cx="3703320" cy="20116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Thay thế Boston Housing (506 dòng, 14 biến, thập niên 1970)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2930 quan sát, 80 biến, Ames 2006-2010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Khuyến nghị loại GrLivArea &gt; 4000 sq ft (5 điểm)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Neighborhood + tổng diện tích giải thích khoảng 80% biến thiên giá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219456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Cuộc thi Kaggle</a:t>
            </a:r>
            <a:endParaRPr lang="en-US" sz="13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46320" y="2606040"/>
            <a:ext cx="3703320" cy="20116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Hồi quy có giám sát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Thước đo: RMSE trên log(giá), nên biến đổi log là hướng tự nhiên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Hướng phổ biến: log mục tiêu, loại ngoại lệ, xử lý NA, tạo TotalSF, mô hình cây/boosting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" y="255905"/>
            <a:ext cx="824103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Tính chất dữ liệu: 79 biến chia 4 nhóm khớp với paper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Đăng Tiến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2567"/>
            <a:ext cx="4791456" cy="167822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0972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77840" y="1188720"/>
            <a:ext cx="54864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15000" y="1143000"/>
            <a:ext cx="132588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23</a:t>
            </a:r>
            <a:endParaRPr lang="en-US" sz="2000" b="1" dirty="0">
              <a:solidFill>
                <a:srgbClr val="0E9AA7"/>
              </a:solidFill>
              <a:latin typeface="Courier New" panose="02070309020205020404" charset="0"/>
              <a:ea typeface="Georgia" panose="02040502050405020303" pitchFamily="34" charset="-122"/>
              <a:cs typeface="Courier New" panose="020703090202050204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715000" y="1575054"/>
            <a:ext cx="132588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Định danh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78040" y="10972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188720"/>
            <a:ext cx="54864" cy="6858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1143000"/>
            <a:ext cx="132588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23</a:t>
            </a:r>
            <a:endParaRPr lang="en-US" sz="2000" b="1" dirty="0">
              <a:solidFill>
                <a:srgbClr val="F2A541"/>
              </a:solidFill>
              <a:latin typeface="Courier New" panose="02070309020205020404" charset="0"/>
              <a:ea typeface="Georgia" panose="02040502050405020303" pitchFamily="34" charset="-122"/>
              <a:cs typeface="Courier New" panose="020703090202050204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315200" y="1575054"/>
            <a:ext cx="132588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Thứ bậc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577840" y="205740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77840" y="2148840"/>
            <a:ext cx="54864" cy="6858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2103120"/>
            <a:ext cx="132588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14</a:t>
            </a:r>
            <a:endParaRPr lang="en-US" sz="2000" b="1" dirty="0">
              <a:solidFill>
                <a:srgbClr val="7C5CBF"/>
              </a:solidFill>
              <a:latin typeface="Courier New" panose="02070309020205020404" charset="0"/>
              <a:ea typeface="Georgia" panose="02040502050405020303" pitchFamily="34" charset="-122"/>
              <a:cs typeface="Courier New" panose="020703090202050204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715000" y="2535174"/>
            <a:ext cx="132588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Rời rạc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178040" y="205740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78040" y="2148840"/>
            <a:ext cx="54864" cy="68580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0" y="2103120"/>
            <a:ext cx="132588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1495B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19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315200" y="2535174"/>
            <a:ext cx="132588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Liên tục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3154680"/>
            <a:ext cx="8229600" cy="15544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 cột chuỗi, 36 cột số; không có dòng trùng lặp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MSSubClass, OverallQual, OverallCond lưu dạng số nhưng là phân loại/thứ bậc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có 20 biến liên tục vì tính cả SalePrice (19 + 1)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Neighborhood: 25 nhóm trong Kaggle (paper: 28); GrLivArea &gt; 4000: 4 điểm train, 1 điểm test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SalePrice lệch phải: log1p đưa skewness từ 1.88 về 0.12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Thành Đại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50244"/>
            <a:ext cx="4974336" cy="24602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60720" y="1097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1188720"/>
            <a:ext cx="54864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97880" y="1143000"/>
            <a:ext cx="123444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180</a:t>
            </a:r>
            <a:r>
              <a:rPr lang="vi-VN" alt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,</a:t>
            </a: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921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897880" y="1575054"/>
            <a:ext cx="123444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 bình (USD)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69480" y="1097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9480" y="1188720"/>
            <a:ext cx="54864" cy="6858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06640" y="1143000"/>
            <a:ext cx="123444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163,000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406640" y="1575054"/>
            <a:ext cx="123444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 vị (USD)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60720" y="21031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0720" y="2194560"/>
            <a:ext cx="54864" cy="68580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97880" y="2148840"/>
            <a:ext cx="123444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1495B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1.88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897880" y="2580894"/>
            <a:ext cx="123444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skewness gốc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269480" y="21031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269480" y="2194560"/>
            <a:ext cx="54864" cy="6858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06640" y="2148840"/>
            <a:ext cx="123444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0.12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406640" y="2580894"/>
            <a:ext cx="123444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skewness sau log1p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760720" y="3154680"/>
            <a:ext cx="2926080" cy="15544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 34,900; max 755,000; độ lệch chuẩn 79,443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Đường Q-Q sau log1p gần đường thẳng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Phù hợp thước đo RMSE trên log của Kaggle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Biến liên tục, rời rạc và phân loại: lệch, nhiều số 0, nhiều biến gần hằng số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Thành Đại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89" y="1216152"/>
            <a:ext cx="4483503" cy="14081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283464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/tmp/rl3/media/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085788"/>
            <a:ext cx="4608576" cy="13265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94960" y="114300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532120" y="1234440"/>
            <a:ext cx="3063240" cy="33832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Lệch mạnh nhất: MiscVal, PoolArea, LotArea, 3SsnPorch, LowQualFinSF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Trên 90% bằng 0: PoolArea 99.5%, 3SsnPorch 98.4%, LowQualFinSF 98.2%, MiscVal 96.4%, ScreenPorch 92.1%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Rời rạc: 97.7% nhà có tối đa 2 phòng tắm, 55.1% có 3 phòng ngủ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biến phân loại &gt; 95% một nhóm: Utilities, Street, PoolQC, Condition2, RoofMatl, Heating, MiscFeature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Neighborhood: NAmes 225, CollgCr 150; Normal chiếm 82.1% SaleCondition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19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OverallQual và GrLivArea tương quan mạnh nhất với giá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Hậu Thành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28973"/>
            <a:ext cx="5248656" cy="210277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0" y="109728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35040" y="1188720"/>
            <a:ext cx="54864" cy="594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72200" y="1143000"/>
            <a:ext cx="1097280" cy="4274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0.79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172200" y="1524762"/>
            <a:ext cx="1097280" cy="326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OverallQual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406640" y="109728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0" y="1188720"/>
            <a:ext cx="54864" cy="5943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43800" y="1143000"/>
            <a:ext cx="1097280" cy="4274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0.71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43800" y="1524762"/>
            <a:ext cx="1097280" cy="326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GrLivArea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196596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2057400"/>
            <a:ext cx="54864" cy="5943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72200" y="2011680"/>
            <a:ext cx="1097280" cy="4274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0.64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72200" y="2393442"/>
            <a:ext cx="1097280" cy="326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GarageCars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406640" y="196596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06640" y="2057400"/>
            <a:ext cx="54864" cy="5943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43800" y="2011680"/>
            <a:ext cx="1097280" cy="4274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0.62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543800" y="2393442"/>
            <a:ext cx="1097280" cy="326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GarageArea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035040" y="2926080"/>
            <a:ext cx="2697480" cy="17373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TotalBsmtSF và 1stFlrSF cùng 0.61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Tương quan âm yếu: KitchenAbvGr -0.14, EnclosedPorch -0.13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Spearman &gt; Pearson ở LotArea, OpenPorchSF, YearBuilt: quan hệ đơn điệu, không tuyến tính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Đa cộng tuyến và phương sai không đồng nhất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Hậu Thành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53863"/>
            <a:ext cx="2962656" cy="18813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03320" y="10972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/tmp/rl3/media/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319351"/>
            <a:ext cx="4837176" cy="175041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57200" y="34290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48640" y="3474720"/>
            <a:ext cx="3840480" cy="11887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cặp |r| &gt; 0.8: GarageCars - GarageArea, YearBuilt - GarageYrBlt, GrLivArea - TotRmsAbvGrd, TotalBsmtSF - 1stFlrSF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biến VIF khoảng 1e15: do quan hệ tổng Bsmt* và 1stFlr + 2ndFlr + LowQual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0" y="34290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663440" y="3474720"/>
            <a:ext cx="3977640" cy="11887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Giá càng cao, độ phân tán càng lớn (đúng nhận xét của paper)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Lấy log giá làm phương sai ổn định hơn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Khi hồi quy chỉ giữ một biến đại diện cho mỗi nhóm cộng tuyến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Neighborhood và TotalSF giải thích phần lớn biến thiên của giá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59265"/>
            <a:ext cx="4425696" cy="244219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12080" y="109728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212080" y="1188720"/>
            <a:ext cx="54864" cy="6858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49240" y="1143000"/>
            <a:ext cx="91440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0.50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49240" y="1575054"/>
            <a:ext cx="91440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GrLivArea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82512" y="109728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1188720"/>
            <a:ext cx="54864" cy="6858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19672" y="1143000"/>
            <a:ext cx="91440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0.61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519672" y="1575054"/>
            <a:ext cx="91440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TotalSF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552944" y="1097280"/>
            <a:ext cx="113385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552944" y="1188720"/>
            <a:ext cx="54864" cy="6858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90104" y="1143000"/>
            <a:ext cx="950976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0.76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690104" y="1575054"/>
            <a:ext cx="950976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TotalSF + Neighborhood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212080" y="2148840"/>
            <a:ext cx="3474720" cy="25603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Trung vị cao nhất: NridgHt, NoRidge, StoneBr; thấp nhất: MeadowV, IDOTRR, BrDale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 244,600 &gt; Normal 160,000 &gt; Abnorml 130,000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Kruskal-Wallis: Neighborhood H = 869, ExterQual 683, KitchenQual 661, BsmtQual 632, GarageFinish 505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r(TotalSF) = 0.78, r(TotalBath) = 0.63, r(HouseAge) = -0.52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70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Giá trị thiếu: phần lớn là "không có", không phải mất dữ liệu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Mạnh Dũng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00186"/>
            <a:ext cx="5248656" cy="17716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0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035040" y="1188720"/>
            <a:ext cx="54864" cy="6400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72200" y="1143000"/>
            <a:ext cx="1097280" cy="4526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19/33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172200" y="1549908"/>
            <a:ext cx="1097280" cy="3456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cột thiếu train / test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406640" y="10972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0" y="1188720"/>
            <a:ext cx="54864" cy="6400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43800" y="1143000"/>
            <a:ext cx="1097280" cy="4526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14</a:t>
            </a:r>
            <a:endParaRPr lang="en-US" sz="2000" b="1" dirty="0">
              <a:solidFill>
                <a:srgbClr val="F2A541"/>
              </a:solidFill>
              <a:latin typeface="Courier New" panose="02070309020205020404" charset="0"/>
              <a:ea typeface="Georgia" panose="02040502050405020303" pitchFamily="34" charset="-122"/>
              <a:cs typeface="Courier New" panose="020703090202050204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43800" y="1549908"/>
            <a:ext cx="1097280" cy="3456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cột NA = "không có"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035040" y="2057400"/>
            <a:ext cx="2651760" cy="146304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Thiếu thật 4 cột: LotFrontage 259 dòng, MasVnrType/MasVnrArea 8, Electrical 1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GarageYrBlt thiếu 81 dòng vì không có garage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cột Garage* thiếu cùng dòng ở 1,460/1,460 dòng: thiếu có cấu trúc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DF1F3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149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Bẫy đọc file: </a:t>
            </a: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MasVnrType có 864 giá trị chữ "None" (hợp lệ) và chỉ 8 NA thật. pd.read_csv mặc định báo 872 dòng thiếu; điền giá trị phổ biến nhất sẽ đổi các căn "None" thành "BrkFace". Cách đọc đúng: keep_default_na=False, na_values=["NA"].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41665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Mẫu bất thường: train khá sạch, test có nhiều lỗi nhập liệu hơn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Mạnh Dũng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097280"/>
          <a:ext cx="4937760" cy="329184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Kiểm tra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Train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YearRemodAdd &lt; YearBuilt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YrSold &lt; YearBuilt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GarageYrBlt &gt; YrSold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GarageYrBlt &gt; 2010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GarageYrBlt &lt; YearBuilt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BsmtFin1 + Fin2 + Unf != TotalBsmtSF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MasVnrType = None nhưng MasVnrArea &gt; 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MasVnrType khác None nhưng MasVnrArea = 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BedroomAbvGr = 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109728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715000" y="1188720"/>
            <a:ext cx="2880360" cy="34290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Thiếu thật ở test nhiều hơn: Bsmt* 7 dòng, PoolQC 3, MasVnrType 16, Garage* 1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 train/test: 0 biến số khác phân phối (p &lt; 0.01)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biến phân loại có nhóm chỉ xuất hiện trong test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 nhóm hiếm (&lt; 1% số dòng) ở 31 biến phân loại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Ngoại lệ GrLivArea &gt; 4000: hai căn Partial là ngoại lệ thật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Mạnh Dũng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314" y="1170432"/>
            <a:ext cx="4543531" cy="1591056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2971800"/>
          <a:ext cx="4937760" cy="164592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1005840"/>
                <a:gridCol w="1005840"/>
                <a:gridCol w="14630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GrLivArea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Điều kiện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SalePrice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Nhận định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4676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184,750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Ngoại lệ thật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1299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5642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160,000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Ngoại lệ thật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692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4316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Normal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755,000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Nhà lớn, hợp lệ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1183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4476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Abnorml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745,000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Nhà lớn, hợp lệ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577840" y="109728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715000" y="1188720"/>
            <a:ext cx="2880360" cy="34290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có 4 điểm, test có 1 điểm (Id 2550); paper: 5 điểm trong tập gốc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Căn Partial là nhà chưa hoàn thiện nên giá không phản ánh thị trường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692 và 1183 có OverallQual = 10, giá tương xứng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Loại 4 điểm làm mô hình hồi quy khớp tốt hơn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Mạnh Dũng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rl3/media/image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595" y="1170432"/>
            <a:ext cx="4536970" cy="1591056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3017520"/>
          <a:ext cx="4937760" cy="109728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1005840"/>
                <a:gridCol w="731520"/>
                <a:gridCol w="914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Mô hình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Số dòng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R² (GrLivArea)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Hệ số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R² (log giá)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Trước khi loại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1460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0.502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107.1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0.812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Sau khi loại 4 điểm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1456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0.519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111.2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0.845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577840" y="10972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577840" y="1188720"/>
            <a:ext cx="54864" cy="68580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15000" y="1143000"/>
            <a:ext cx="132588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1495B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4.79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" name="Text 9"/>
          <p:cNvSpPr/>
          <p:nvPr/>
        </p:nvSpPr>
        <p:spPr>
          <a:xfrm>
            <a:off x="5715000" y="1575054"/>
            <a:ext cx="132588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Cook Id 1299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178040" y="10972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78040" y="1188720"/>
            <a:ext cx="54864" cy="6858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15200" y="1143000"/>
            <a:ext cx="1325880" cy="4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0.45</a:t>
            </a:r>
            <a:endParaRPr lang="en-US" sz="20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315200" y="1575054"/>
            <a:ext cx="1325880" cy="3648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Cook Id 524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577840" y="2148840"/>
            <a:ext cx="3108960" cy="25603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Các điểm còn lại có Cook &lt; 0.03; 82 điểm vượt 4/n = 0.003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IQR: SalePrice 61, LotArea 69, LotFrontage 88, MasVnrArea 96 điểm; Z &gt; 3: SalePrice 22 điểm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Phần lớn là giá trị cực đoan hợp lệ, không nên loại chỉ dựa trên IQR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Kết luận và đề xuất tiền xử lý</a:t>
            </a:r>
            <a:endParaRPr lang="en-US" sz="2100" dirty="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69480" y="2926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Đăng Tiến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Lab03 - Phân tích khám phá dữ liệu Ames Housing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Vấn đề phát hiện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Đề xuất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SalePrice lệch phải (skewness 1.88)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Dùng log1p(SalePrice)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Ngoại lệ GrLivArea &gt; 4000 (Id 524, 1299 là ngoại lệ thật)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Loại ít nhất các điểm này; có thể loại cả 4 điểm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 = "không có" ở 14 cột; lỗi đọc chữ "None"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Điền "None" hoặc 0; đọc file với keep_default_na=False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Thiếu thật: LotFrontage 17.7%, MasVnr, Electrical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Điền median theo Neighborhood hoặc giá trị phổ biến nhất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Biến lệch, nhiều số 0 (PoolArea, 3SsnPorch, LowQualFinSF)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Biến nhị phân có/không hoặc log1p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Đa cộng tuyến (Garage, Bsmt, GrLivArea, 1stFlrSF)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Giữ một biến đại diện; tạo TotalSF, TotalBath, HouseAge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 biến gần như hằng số; lỗi logic ở test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Cân nhắc loại biến; sửa riêng lỗi ở test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9A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Hướng phát triển: pipeline tiền xử lý theo bảng trên, rồi so sánh hồi quy có điều chuẩn, cây quyết định, XGBoost, mạng nơ-ron bằng RMSE trên log giá.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" name="Image 0" descr="/tmp/rl3/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868680" cy="886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TRƯỜNG ĐẠI HỌC SÀI GÒN - KHOA CÔNG NGHỆ THÔNG TIN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Môn Máy học  |  GVHD: TS. Đỗ Như Tài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00555"/>
            <a:ext cx="7863840" cy="15925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alt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charset="0"/>
                <a:ea typeface="Georgia" panose="02040502050405020303" pitchFamily="34" charset="-122"/>
                <a:cs typeface="Courier New" panose="02070309020205020404" charset="0"/>
              </a:rPr>
              <a:t>Cảm ơn thầy cô và các bạn đã lắng nghe</a:t>
            </a:r>
            <a:endParaRPr lang="vi-VN" altLang="en-US" sz="3000" b="1" dirty="0">
              <a:solidFill>
                <a:schemeClr val="accent1">
                  <a:lumMod val="60000"/>
                  <a:lumOff val="40000"/>
                </a:schemeClr>
              </a:solidFill>
              <a:latin typeface="Courier New" panose="02070309020205020404" charset="0"/>
              <a:ea typeface="Georgia" panose="02040502050405020303" pitchFamily="34" charset="-122"/>
              <a:cs typeface="Courier New" panose="020703090202050204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82486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3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TP. Hồ Chí Minh, 03/10/2026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7281</Words>
  <Application>WPS Presentation</Application>
  <PresentationFormat>On-screen Show (16:9)</PresentationFormat>
  <Paragraphs>492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Georgia</vt:lpstr>
      <vt:lpstr>Georgia</vt:lpstr>
      <vt:lpstr>Georgia</vt:lpstr>
      <vt:lpstr>Microsoft YaHei</vt:lpstr>
      <vt:lpstr>Arial Unicode MS</vt:lpstr>
      <vt:lpstr>Chiller</vt:lpstr>
      <vt:lpstr>Colonna MT</vt:lpstr>
      <vt:lpstr>Corbel Light</vt:lpstr>
      <vt:lpstr>Corbel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Lab03 - EDA Ames Housing</dc:title>
  <dc:creator>PptxGenJS</dc:creator>
  <dc:subject>PptxGenJS Presentation</dc:subject>
  <cp:lastModifiedBy>Dũng Mạnh</cp:lastModifiedBy>
  <cp:revision>4</cp:revision>
  <dcterms:created xsi:type="dcterms:W3CDTF">2026-10-01T03:12:00Z</dcterms:created>
  <dcterms:modified xsi:type="dcterms:W3CDTF">2026-10-02T00:59:01Z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D2D3E0842AFB49BA8B7F2302565BA1CD_13</vt:lpwstr>
  </property>
  <property fmtid="{D5CDD505-2E9C-101B-9397-08002B2CF9AE}" pid="3" name="KSOProductBuildVer">
    <vt:lpwstr>1033-12.2.0.21179</vt:lpwstr>
  </property>
</Properties>
</file>